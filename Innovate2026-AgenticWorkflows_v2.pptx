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06" y="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13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Beat 4 is standalone; it does not need Beats 1-3.</a:t>
            </a:r>
          </a:p>
          <a:p>
            <a:r>
              <a:t>The factory (lenvolk/gh-aw-dryrun) holds three things: the repository catalog (templates/catalog.json), the Java modernization template (gh-aw agent workflows, orchestrator workflows, custom agents, skills, scripts, deploy.ps1) and the Software Factory canvas in the GitHub Copilot app.</a:t>
            </a:r>
          </a:p>
          <a:p>
            <a:r>
              <a:t>Deploy copies the template into the nominated target (lenvolk/java-migration-copilot-samples). The workflows run there, in its GitHub Actions; the canvas monitors them with live progress bars, like one dashboard over many pipelines.</a:t>
            </a:r>
          </a:p>
          <a:p>
            <a:r>
              <a:t>Only nominated repositories may spend minutes and AI credits: JTicket is listed but not nominated, so it is greyed out.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order as GitHub Copilot app modernization (assess, plan, execute, validate), built with our own gh-aw agents and standard Java tools. It does not run that product and is not a supported product feature.</a:t>
            </a:r>
          </a:p>
          <a:p>
            <a:r>
              <a:t>Assess: a /modernize issue starts it. Tools only, no AI: tests on JDK 8, dependency tree, jdeps/jdeprscan, SpotBugs, OpenRewrite dry run, OSV.dev. Two read-only analyst agents turn the facts into findings with stable IDs. Gate 1: a human approves the Assessment Report, including the predicted cost per stage.</a:t>
            </a:r>
          </a:p>
          <a:p>
            <a:r>
              <a:t>Plan: a planner agent writes plan.md in a plan PR; a deterministic check confirms every finding ID is owned by a step. Gate 2: a human merges the plan. Only Markdown and evidence land in main.</a:t>
            </a:r>
          </a:p>
          <a:p>
            <a:r>
              <a:t>Execute and validate: build-upgrader then code-fixer (one writer at a time), verify on JDK 21 (no AI), Spec and Standards reviewers in parallel, finalize posts actual vs predicted cost. Gate 3: a human approves the Implementation PR with a review, without merging, so the demo can repeat.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canvas, the token and the three gates are direct human clicks that never pass through AI. Deploy, Update template, Explain the report and Troubleshoot send a prompt to the Copilot agent in the session, which does the work in the chat and asks before it pushes anything.</a:t>
            </a:r>
          </a:p>
          <a:p>
            <a:r>
              <a:t>Progress is real: bars count completed jobs and steps from the GitHub Actions API.</a:t>
            </a:r>
          </a:p>
          <a:p>
            <a:r>
              <a:t>Cost: plan for about 200 AI credits (about $2) per full run; threat detection is about 30% of it. Runner time is about 85 minutes, free on a public fork, $0.006 per minute on a private repository. The Assessment Report predicts the cost of every stage before gate 1; finalize posts actual vs predicted before gate 3.</a:t>
            </a:r>
          </a:p>
          <a:p>
            <a:r>
              <a:t>Because the full run takes about an hour, pre-run it before the meeting and replay it with Open an existing request.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next.github.io/gh-aw-wizard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github.com/gh-aw/galler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753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8116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870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7899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2928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782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8116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8408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2870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899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928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782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8116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8408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870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899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928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753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782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8408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870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7899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2928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753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7782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28116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78408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870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7899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2928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7724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753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7782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28116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78408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2870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7899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2928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1520" y="10972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6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Workflows</a:t>
            </a:r>
            <a:endParaRPr lang="en-US" sz="6200" dirty="0"/>
          </a:p>
        </p:txBody>
      </p:sp>
      <p:sp>
        <p:nvSpPr>
          <p:cNvPr id="52" name="Text 50"/>
          <p:cNvSpPr/>
          <p:nvPr/>
        </p:nvSpPr>
        <p:spPr>
          <a:xfrm>
            <a:off x="73152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 automation powered by AI agents</a:t>
            </a:r>
            <a:endParaRPr lang="en-US" sz="2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enterprise-grade security guardrails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731520" y="3566160"/>
            <a:ext cx="274320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31520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</a:t>
            </a: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Shift: From Deterministic to Judgment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58952" y="1408176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4754880" cy="3657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GitHub Actions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Deterministic: if X → do 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scenario must be pre-coded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YAML configurations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Rigid — can't handle nuance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triage, doc updates, arch reviews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need humans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28232" y="1408176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1371600"/>
            <a:ext cx="475488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219456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i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"Productive Ambiguity"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that exercise judgment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in plain markdown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— adapts to context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Inherits Actions ecosystem: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logs, secrets, permissions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30175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Next + Microsoft Research — "Continuous AI" vision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Works: Markdown → Agent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58952" y="1408176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301752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6002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1F6FEB">
              <a:alpha val="15000"/>
            </a:srgbClr>
          </a:solidFill>
          <a:ln w="1524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61848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EB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Markdown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84F5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---</a:t>
            </a:r>
            <a:r>
              <a:rPr lang="en-US" sz="1100" dirty="0">
                <a:solidFill>
                  <a:srgbClr val="58A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on:</a:t>
            </a:r>
            <a:r>
              <a:rPr lang="en-US" sz="11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pull_request:</a:t>
            </a:r>
            <a:r>
              <a:rPr lang="en-US" sz="1100" dirty="0">
                <a:solidFill>
                  <a:srgbClr val="58A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permissions: read-allsafe-outputs:</a:t>
            </a:r>
            <a:r>
              <a:rPr lang="en-US" sz="11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add-comment:</a:t>
            </a:r>
            <a:r>
              <a:rPr lang="en-US" sz="1100" dirty="0">
                <a:solidFill>
                  <a:srgbClr val="484F5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---</a:t>
            </a:r>
            <a:r>
              <a:rPr lang="en-US" sz="1100" b="1" dirty="0">
                <a:solidFill>
                  <a:srgbClr val="3FB95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Big-O Auditor</a:t>
            </a:r>
            <a:r>
              <a:rPr lang="en-US" sz="1100" dirty="0">
                <a:solidFill>
                  <a:srgbClr val="E6EDF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Analyze code foralgorithmic complexity.Suggest optimizations.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38636"/>
                </a:solidFill>
              </a:rPr>
              <a:t>→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599432" y="1408176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371600"/>
            <a:ext cx="301752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6002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238636">
              <a:alpha val="15000"/>
            </a:srgbClr>
          </a:solidFill>
          <a:ln w="1524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61848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8636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$ gh aw compile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hardened</a:t>
            </a:r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.lock.yml workflow</a:t>
            </a: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Sanitized, auditable,minimal permissions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1812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38636"/>
                </a:solidFill>
              </a:rPr>
              <a:t>→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8439912" y="1408176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12480" y="13716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49640" y="1371600"/>
            <a:ext cx="3017520" cy="36576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86800" y="16002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A371F7">
              <a:alpha val="15000"/>
            </a:srgbClr>
          </a:solidFill>
          <a:ln w="1524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0" y="161848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71F7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2688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Runs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686800" y="22860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PR / Issue / Schedule:</a:t>
            </a: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Reads code &amp; context✓  Exercises judgment✓  Suggests improvements✓  Posts PR comment</a:t>
            </a:r>
            <a:r>
              <a:rPr lang="en-US" sz="15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in GitHub Actions</a:t>
            </a:r>
            <a:r>
              <a:rPr lang="en-US" sz="14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Team-visible logs &amp; audit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CBRE 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 5-Layer Defense-in-Depth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of an agent  +  guardrails of CI/CD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" y="154533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45720" cy="64008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1560" y="1673352"/>
            <a:ext cx="502920" cy="502920"/>
          </a:xfrm>
          <a:prstGeom prst="ellipse">
            <a:avLst/>
          </a:prstGeom>
          <a:solidFill>
            <a:srgbClr val="1F6FEB">
              <a:alpha val="20000"/>
            </a:srgbClr>
          </a:solidFill>
          <a:ln w="1905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Tokens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158191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gets read-only GitHub token.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push, create PRs, or delete.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8952" y="250545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45720" cy="64008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1560" y="2633472"/>
            <a:ext cx="502920" cy="502920"/>
          </a:xfrm>
          <a:prstGeom prst="ellipse">
            <a:avLst/>
          </a:prstGeom>
          <a:solidFill>
            <a:srgbClr val="58A6FF">
              <a:alpha val="20000"/>
            </a:srgbClr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2560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Secrets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254203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tokens exist only in isolated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post-agent jobs. Nothing to steal.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8952" y="346557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342900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3520440"/>
            <a:ext cx="45720" cy="64008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51560" y="3593592"/>
            <a:ext cx="502920" cy="502920"/>
          </a:xfrm>
          <a:prstGeom prst="ellipse">
            <a:avLst/>
          </a:prstGeom>
          <a:solidFill>
            <a:srgbClr val="3FB950">
              <a:alpha val="20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156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28800" y="3520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+ Firewall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350215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container. AWF proxy enforces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allowlist. Non-allowed = dropped.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8952" y="442569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438912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" y="4480560"/>
            <a:ext cx="45720" cy="64008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51560" y="4553712"/>
            <a:ext cx="502920" cy="502920"/>
          </a:xfrm>
          <a:prstGeom prst="ellipse">
            <a:avLst/>
          </a:prstGeom>
          <a:solidFill>
            <a:srgbClr val="A371F7">
              <a:alpha val="20000"/>
            </a:srgbClr>
          </a:solidFill>
          <a:ln w="1905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5156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828800" y="4480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Outputs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29200" y="446227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produces structured artifact.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Gated write job applies only permitted ops.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58952" y="538581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1520" y="534924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1520" y="5440680"/>
            <a:ext cx="45720" cy="64008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51560" y="5513832"/>
            <a:ext cx="502920" cy="502920"/>
          </a:xfrm>
          <a:prstGeom prst="ellipse">
            <a:avLst/>
          </a:prstGeom>
          <a:solidFill>
            <a:srgbClr val="F85149">
              <a:alpha val="20000"/>
            </a:srgbClr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51560" y="5513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828800" y="5440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Detection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029200" y="542239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scan: prompt injection,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leaked creds, malicious code. Fail = halt.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31520" y="626364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4400" y="62910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863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Event → Agent (read-only) → Artifact → Threat Scan → Write Job (scoped) → GitHub API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Big-O Auditor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that reviews PRs for algorithmic complexity — written in natural language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319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182880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3000" y="1783080"/>
            <a:ext cx="548640" cy="548640"/>
          </a:xfrm>
          <a:prstGeom prst="ellipse">
            <a:avLst/>
          </a:prstGeom>
          <a:solidFill>
            <a:srgbClr val="1F6FEB">
              <a:alpha val="25000"/>
            </a:srgbClr>
          </a:solidFill>
          <a:ln w="1905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agent.md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header: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permissions, triggers,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 (Copilot)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77063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80360" y="1554480"/>
            <a:ext cx="1828800" cy="3657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20440" y="1783080"/>
            <a:ext cx="548640" cy="548640"/>
          </a:xfrm>
          <a:prstGeom prst="ellipse">
            <a:avLst/>
          </a:prstGeom>
          <a:solidFill>
            <a:srgbClr val="58A6FF">
              <a:alpha val="25000"/>
            </a:srgbClr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04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88036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8036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"Analyze code for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Big-O complexity.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 optimization."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14807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2064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57800" y="1554480"/>
            <a:ext cx="182880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97880" y="1783080"/>
            <a:ext cx="548640" cy="548640"/>
          </a:xfrm>
          <a:prstGeom prst="ellipse">
            <a:avLst/>
          </a:prstGeom>
          <a:solidFill>
            <a:srgbClr val="238636">
              <a:alpha val="25000"/>
            </a:srgbClr>
          </a:solidFill>
          <a:ln w="1905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978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5780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 aw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hardened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.lock.yml workflow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752551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9808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35240" y="1554480"/>
            <a:ext cx="1828800" cy="3657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rgbClr val="D29922">
              <a:alpha val="25000"/>
            </a:srgbClr>
          </a:solidFill>
          <a:ln w="1905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753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63524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Request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63524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O(n²) code.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activates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PR trigger.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50976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990295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87552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012680" y="1554480"/>
            <a:ext cx="1828800" cy="3657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652760" y="1783080"/>
            <a:ext cx="548640" cy="548640"/>
          </a:xfrm>
          <a:prstGeom prst="ellipse">
            <a:avLst/>
          </a:prstGeom>
          <a:solidFill>
            <a:srgbClr val="3FB950">
              <a:alpha val="25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6527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01268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01268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inefficiency.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Suggests O(n) fix.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perf impact.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 minutes to execute · Results posted as PR comment with formatted table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38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484F58"/>
                </a:solidFill>
                <a:latin typeface="Segoe UI"/>
                <a:ea typeface="Segoe UI"/>
                <a:cs typeface="Segoe UI"/>
              </a:rPr>
              <a:t>Innovate 2026  ·  ADO/GitHub with Microsoft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484F58"/>
                </a:solidFill>
                <a:latin typeface="Segoe UI"/>
                <a:ea typeface="Segoe UI"/>
                <a:cs typeface="Segoe UI"/>
              </a:rPr>
              <a:t>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Demo: The Software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Beat 4 — one repository acts as the team and modernizes Java in the repos it nominates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591056"/>
            <a:ext cx="10725912" cy="4096024"/>
          </a:xfrm>
          <a:prstGeom prst="roundRect">
            <a:avLst>
              <a:gd name="adj" fmla="val 2678"/>
            </a:avLst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25912" cy="4096024"/>
          </a:xfrm>
          <a:prstGeom prst="roundRect">
            <a:avLst>
              <a:gd name="adj" fmla="val 2678"/>
            </a:avLst>
          </a:prstGeom>
          <a:solidFill>
            <a:srgbClr val="161B22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eat-4-factory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27632"/>
            <a:ext cx="10579608" cy="3949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97880"/>
            <a:ext cx="10725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3FB950"/>
                </a:solidFill>
                <a:latin typeface="Segoe UI"/>
                <a:ea typeface="Segoe UI"/>
                <a:cs typeface="Segoe UI"/>
              </a:rPr>
              <a:t>Factory = catalog + template + canvas</a:t>
            </a:r>
            <a:r>
              <a:rPr sz="1400" b="0" i="0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   ·   Target: Asset Manager, Java 8 / Spring Boot 2.7 → Java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38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484F58"/>
                </a:solidFill>
                <a:latin typeface="Segoe UI"/>
                <a:ea typeface="Segoe UI"/>
                <a:cs typeface="Segoe UI"/>
              </a:rPr>
              <a:t>Innovate 2026  ·  ADO/GitHub with Microsoft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484F58"/>
                </a:solidFill>
                <a:latin typeface="Segoe UI"/>
                <a:ea typeface="Segoe UI"/>
                <a:cs typeface="Segoe UI"/>
              </a:rPr>
              <a:t>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Assess → Plan → Execute →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Tools measure the facts, gh-aw agents do the judgment work, a human approves each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591056"/>
            <a:ext cx="8043394" cy="4663440"/>
          </a:xfrm>
          <a:prstGeom prst="roundRect">
            <a:avLst>
              <a:gd name="adj" fmla="val 2352"/>
            </a:avLst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8043394" cy="4663440"/>
          </a:xfrm>
          <a:prstGeom prst="roundRect">
            <a:avLst>
              <a:gd name="adj" fmla="val 2352"/>
            </a:avLst>
          </a:prstGeom>
          <a:solidFill>
            <a:srgbClr val="161B22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eat-4-pipeline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27632"/>
            <a:ext cx="7897090" cy="45171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4954" y="1591056"/>
            <a:ext cx="2389909" cy="1402080"/>
          </a:xfrm>
          <a:prstGeom prst="roundRect">
            <a:avLst>
              <a:gd name="adj" fmla="val 7826"/>
            </a:avLst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67522" y="1554480"/>
            <a:ext cx="2389909" cy="1402080"/>
          </a:xfrm>
          <a:prstGeom prst="roundRect">
            <a:avLst>
              <a:gd name="adj" fmla="val 7826"/>
            </a:avLst>
          </a:prstGeom>
          <a:solidFill>
            <a:srgbClr val="21262D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04682" y="1554480"/>
            <a:ext cx="2115589" cy="36576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50402" y="1719072"/>
            <a:ext cx="347472" cy="347472"/>
          </a:xfrm>
          <a:prstGeom prst="ellipse">
            <a:avLst/>
          </a:prstGeom>
          <a:solidFill>
            <a:srgbClr val="D29922">
              <a:alpha val="25000"/>
            </a:srgbClr>
          </a:solidFill>
          <a:ln w="190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50402" y="1719072"/>
            <a:ext cx="347472" cy="3474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300" b="1" i="0">
                <a:solidFill>
                  <a:srgbClr val="D29922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9314" y="1719072"/>
            <a:ext cx="1658389" cy="3474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1" i="0">
                <a:solidFill>
                  <a:srgbClr val="D29922"/>
                </a:solidFill>
                <a:latin typeface="Segoe UI"/>
                <a:ea typeface="Segoe UI"/>
                <a:cs typeface="Segoe UI"/>
              </a:rPr>
              <a:t>GATE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402" y="2139696"/>
            <a:ext cx="2024149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Approve the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0402" y="2450591"/>
            <a:ext cx="2024149" cy="41452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Findings and predicted cost. No file has changed.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4954" y="3221736"/>
            <a:ext cx="2389909" cy="1402080"/>
          </a:xfrm>
          <a:prstGeom prst="roundRect">
            <a:avLst>
              <a:gd name="adj" fmla="val 7826"/>
            </a:avLst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67522" y="3185160"/>
            <a:ext cx="2389909" cy="1402080"/>
          </a:xfrm>
          <a:prstGeom prst="roundRect">
            <a:avLst>
              <a:gd name="adj" fmla="val 7826"/>
            </a:avLst>
          </a:prstGeom>
          <a:solidFill>
            <a:srgbClr val="21262D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04682" y="3185160"/>
            <a:ext cx="2115589" cy="36576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50402" y="3349752"/>
            <a:ext cx="347472" cy="347472"/>
          </a:xfrm>
          <a:prstGeom prst="ellipse">
            <a:avLst/>
          </a:prstGeom>
          <a:solidFill>
            <a:srgbClr val="D29922">
              <a:alpha val="25000"/>
            </a:srgbClr>
          </a:solidFill>
          <a:ln w="190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0402" y="3349752"/>
            <a:ext cx="347472" cy="3474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300" b="1" i="0">
                <a:solidFill>
                  <a:srgbClr val="D29922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9314" y="3349752"/>
            <a:ext cx="1658389" cy="3474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1" i="0">
                <a:solidFill>
                  <a:srgbClr val="D29922"/>
                </a:solidFill>
                <a:latin typeface="Segoe UI"/>
                <a:ea typeface="Segoe UI"/>
                <a:cs typeface="Segoe UI"/>
              </a:rPr>
              <a:t>GATE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0402" y="3770375"/>
            <a:ext cx="2024149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Merge the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0402" y="4081271"/>
            <a:ext cx="2024149" cy="41452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Only Markdown and evidence reach main.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4954" y="4852416"/>
            <a:ext cx="2389909" cy="1402080"/>
          </a:xfrm>
          <a:prstGeom prst="roundRect">
            <a:avLst>
              <a:gd name="adj" fmla="val 7826"/>
            </a:avLst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67522" y="4815840"/>
            <a:ext cx="2389909" cy="1402080"/>
          </a:xfrm>
          <a:prstGeom prst="roundRect">
            <a:avLst>
              <a:gd name="adj" fmla="val 7826"/>
            </a:avLst>
          </a:prstGeom>
          <a:solidFill>
            <a:srgbClr val="21262D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04682" y="4815840"/>
            <a:ext cx="2115589" cy="36576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50402" y="4980432"/>
            <a:ext cx="347472" cy="347472"/>
          </a:xfrm>
          <a:prstGeom prst="ellipse">
            <a:avLst/>
          </a:prstGeom>
          <a:solidFill>
            <a:srgbClr val="D29922">
              <a:alpha val="25000"/>
            </a:srgbClr>
          </a:solidFill>
          <a:ln w="190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50402" y="4980432"/>
            <a:ext cx="347472" cy="3474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300" b="1" i="0">
                <a:solidFill>
                  <a:srgbClr val="D29922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9314" y="4980432"/>
            <a:ext cx="1658389" cy="3474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1" i="0">
                <a:solidFill>
                  <a:srgbClr val="D29922"/>
                </a:solidFill>
                <a:latin typeface="Segoe UI"/>
                <a:ea typeface="Segoe UI"/>
                <a:cs typeface="Segoe UI"/>
              </a:rPr>
              <a:t>GATE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0402" y="5401056"/>
            <a:ext cx="2024149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Approve, don’t merge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0402" y="5711951"/>
            <a:ext cx="2024149" cy="41452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Review only; main stays on Java 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38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484F58"/>
                </a:solidFill>
                <a:latin typeface="Segoe UI"/>
                <a:ea typeface="Segoe UI"/>
                <a:cs typeface="Segoe UI"/>
              </a:rPr>
              <a:t>Innovate 2026  ·  ADO/GitHub with Microsoft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484F58"/>
                </a:solidFill>
                <a:latin typeface="Segoe UI"/>
                <a:ea typeface="Segoe UI"/>
                <a:cs typeface="Segoe UI"/>
              </a:rPr>
              <a:t>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One Canvas: Buttons, Not 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1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The Software Factory canvas drives the run and shows live progress and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591056"/>
            <a:ext cx="5225796" cy="2011680"/>
          </a:xfrm>
          <a:prstGeom prst="roundRect">
            <a:avLst>
              <a:gd name="adj" fmla="val 5454"/>
            </a:avLst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25796" cy="2011680"/>
          </a:xfrm>
          <a:prstGeom prst="roundRect">
            <a:avLst>
              <a:gd name="adj" fmla="val 5454"/>
            </a:avLst>
          </a:prstGeom>
          <a:solidFill>
            <a:srgbClr val="21262D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554480"/>
            <a:ext cx="4951476" cy="3657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4677156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  <a:latin typeface="Segoe UI"/>
                <a:ea typeface="Segoe UI"/>
                <a:cs typeface="Segoe UI"/>
              </a:rPr>
              <a:t>Direct clicks — never through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677156" cy="11887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FB950"/>
                </a:solidFill>
                <a:latin typeface="Segoe UI"/>
                <a:ea typeface="Segoe UI"/>
                <a:cs typeface="Segoe UI"/>
              </a:rPr>
              <a:t>✓  </a:t>
            </a:r>
            <a:r>
              <a:rPr sz="1400" b="0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Save the Copilot token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FB950"/>
                </a:solidFill>
                <a:latin typeface="Segoe UI"/>
                <a:ea typeface="Segoe UI"/>
                <a:cs typeface="Segoe UI"/>
              </a:rPr>
              <a:t>✓  </a:t>
            </a:r>
            <a:r>
              <a:rPr sz="1400" b="0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Start the /modernize request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FB950"/>
                </a:solidFill>
                <a:latin typeface="Segoe UI"/>
                <a:ea typeface="Segoe UI"/>
                <a:cs typeface="Segoe UI"/>
              </a:rPr>
              <a:t>✓  </a:t>
            </a:r>
            <a:r>
              <a:rPr sz="1400" b="0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Approve gate 1, merge the plan (gate 2)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FB950"/>
                </a:solidFill>
                <a:latin typeface="Segoe UI"/>
                <a:ea typeface="Segoe UI"/>
                <a:cs typeface="Segoe UI"/>
              </a:rPr>
              <a:t>✓  </a:t>
            </a:r>
            <a:r>
              <a:rPr sz="1400" b="0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Approve the Implementation PR (gate 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591056"/>
            <a:ext cx="5225796" cy="2011680"/>
          </a:xfrm>
          <a:prstGeom prst="roundRect">
            <a:avLst>
              <a:gd name="adj" fmla="val 5454"/>
            </a:avLst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31636" y="1554480"/>
            <a:ext cx="5225796" cy="2011680"/>
          </a:xfrm>
          <a:prstGeom prst="roundRect">
            <a:avLst>
              <a:gd name="adj" fmla="val 5454"/>
            </a:avLst>
          </a:prstGeom>
          <a:solidFill>
            <a:srgbClr val="21262D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68796" y="1554480"/>
            <a:ext cx="4951476" cy="36576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5" y="1737360"/>
            <a:ext cx="4677156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800" b="1" i="0">
                <a:solidFill>
                  <a:srgbClr val="A371F7"/>
                </a:solidFill>
                <a:latin typeface="Segoe UI"/>
                <a:ea typeface="Segoe UI"/>
                <a:cs typeface="Segoe UI"/>
              </a:rPr>
              <a:t>Prompts to the Copilot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955" y="2240280"/>
            <a:ext cx="4677156" cy="11887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371F7"/>
                </a:solidFill>
                <a:latin typeface="Segoe UI"/>
                <a:ea typeface="Segoe UI"/>
                <a:cs typeface="Segoe UI"/>
              </a:rPr>
              <a:t>›  </a:t>
            </a:r>
            <a:r>
              <a:rPr sz="1400" b="0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Deploy the template to a nominated repo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371F7"/>
                </a:solidFill>
                <a:latin typeface="Segoe UI"/>
                <a:ea typeface="Segoe UI"/>
                <a:cs typeface="Segoe UI"/>
              </a:rPr>
              <a:t>›  </a:t>
            </a:r>
            <a:r>
              <a:rPr sz="1400" b="0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Update the template (asks before it pushes)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371F7"/>
                </a:solidFill>
                <a:latin typeface="Segoe UI"/>
                <a:ea typeface="Segoe UI"/>
                <a:cs typeface="Segoe UI"/>
              </a:rPr>
              <a:t>›  </a:t>
            </a:r>
            <a:r>
              <a:rPr sz="1400" b="0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Explain the Assessment Report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371F7"/>
                </a:solidFill>
                <a:latin typeface="Segoe UI"/>
                <a:ea typeface="Segoe UI"/>
                <a:cs typeface="Segoe UI"/>
              </a:rPr>
              <a:t>›  </a:t>
            </a:r>
            <a:r>
              <a:rPr sz="1400" b="0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Troubleshoot a failed job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922776"/>
            <a:ext cx="3392424" cy="1600200"/>
          </a:xfrm>
          <a:prstGeom prst="roundRect">
            <a:avLst>
              <a:gd name="adj" fmla="val 6857"/>
            </a:avLst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392424" cy="1600200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3886200"/>
            <a:ext cx="3118104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995928"/>
            <a:ext cx="3026664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3000" b="1" i="0">
                <a:solidFill>
                  <a:srgbClr val="58A6FF"/>
                </a:solidFill>
                <a:latin typeface="Segoe UI"/>
                <a:ea typeface="Segoe UI"/>
                <a:cs typeface="Segoe UI"/>
              </a:rPr>
              <a:t>~200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36008"/>
            <a:ext cx="3026664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400" b="1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AI credits per full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56048"/>
            <a:ext cx="302666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about $2, incl. gh-aw threat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922776"/>
            <a:ext cx="3392424" cy="1600200"/>
          </a:xfrm>
          <a:prstGeom prst="roundRect">
            <a:avLst>
              <a:gd name="adj" fmla="val 6857"/>
            </a:avLst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98264" y="3886200"/>
            <a:ext cx="3392424" cy="1600200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35424" y="3886200"/>
            <a:ext cx="3118104" cy="3657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1144" y="3995928"/>
            <a:ext cx="3026664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3000" b="1" i="0">
                <a:solidFill>
                  <a:srgbClr val="3FB950"/>
                </a:solidFill>
                <a:latin typeface="Segoe UI"/>
                <a:ea typeface="Segoe UI"/>
                <a:cs typeface="Segoe UI"/>
              </a:rPr>
              <a:t>~85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636008"/>
            <a:ext cx="3026664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400" b="1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GitHub Actions runner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956048"/>
            <a:ext cx="302666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free on a public repo; $0.006/min if private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922776"/>
            <a:ext cx="3392424" cy="1600200"/>
          </a:xfrm>
          <a:prstGeom prst="roundRect">
            <a:avLst>
              <a:gd name="adj" fmla="val 6857"/>
            </a:avLst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65008" y="3886200"/>
            <a:ext cx="3392424" cy="1600200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02168" y="3886200"/>
            <a:ext cx="3118104" cy="36576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8" y="3995928"/>
            <a:ext cx="3026664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3000" b="1" i="0">
                <a:solidFill>
                  <a:srgbClr val="D29922"/>
                </a:solidFill>
                <a:latin typeface="Segoe UI"/>
                <a:ea typeface="Segoe UI"/>
                <a:cs typeface="Segoe UI"/>
              </a:rPr>
              <a:t>Est. → Actual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636008"/>
            <a:ext cx="3026664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400" b="1" i="0">
                <a:solidFill>
                  <a:srgbClr val="E6EDF3"/>
                </a:solidFill>
                <a:latin typeface="Segoe UI"/>
                <a:ea typeface="Segoe UI"/>
                <a:cs typeface="Segoe UI"/>
              </a:rPr>
              <a:t>cost of every stage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956048"/>
            <a:ext cx="302666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estimated at gate 1, compared before gate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97880"/>
            <a:ext cx="10725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  <a:latin typeface="Segoe UI"/>
                <a:ea typeface="Segoe UI"/>
                <a:cs typeface="Segoe UI"/>
              </a:rPr>
              <a:t>A demo built with gh-aw, not a product feature · same lifecycle order as GitHub Copilot app modernization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Can Your Teams Build?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design patterns · Ready-made examples at github.com/githubnext/agentics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" y="15910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554480"/>
            <a:ext cx="315468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0876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&amp; PR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Auto-triage, labeling,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coordination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07992" y="15910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056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554480"/>
            <a:ext cx="3154680" cy="3657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25780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 docs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code changes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57032" y="15910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66760" y="1554480"/>
            <a:ext cx="3154680" cy="3657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0684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Quality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Testing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12480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failure diagnosis,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improvements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8952" y="41056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4069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8680" y="4069080"/>
            <a:ext cx="3154680" cy="36576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50876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&amp;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reports, trend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analysis, health monitoring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07992" y="41056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80560" y="4069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4069080"/>
            <a:ext cx="315468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25780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Improvement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6344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code simplification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refactoring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257032" y="41056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229600" y="4069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366760" y="4069080"/>
            <a:ext cx="3154680" cy="3657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1248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900684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Multi-Repo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41248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sync across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× Agentic Workflows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gh-aw maps to your hackathon themes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301752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Innovate Theme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Ideas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gh-aw Fit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 Workflow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Agentic AI &amp; Multi-Agent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Direct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per repo task, orchestrated via dispatch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DevOps / SDLC Automation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Direct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review, test gen, pipeline quality gates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Intelligence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299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⚡ Partial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Auto-generate docs from code changes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 &amp; Knowledge Retrieval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59+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299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⚡ Partial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Knowledge-grounded PR review via MCP Gateway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IaC &amp; Cloud Automation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Direct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Terraform linting, infra validation on push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gh-aw directly addresses 178+ of CBRE's 500+ innovation ideas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856232" y="5614416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0" y="5577840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11680" y="56235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Teams can fork examples from github.com/githubnext/agentics and start building today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753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8116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870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7899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2928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782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8116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8408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2870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899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928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782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8116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8408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870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899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928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753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782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8408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870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7899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2928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753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7782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28116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78408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870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7899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2928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7724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753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7782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28116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78408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2870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7899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2928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</a:t>
            </a:r>
            <a:endParaRPr lang="en-US" sz="5400" dirty="0"/>
          </a:p>
        </p:txBody>
      </p:sp>
      <p:sp>
        <p:nvSpPr>
          <p:cNvPr id="52" name="Shape 50"/>
          <p:cNvSpPr/>
          <p:nvPr/>
        </p:nvSpPr>
        <p:spPr>
          <a:xfrm>
            <a:off x="731520" y="1965960"/>
            <a:ext cx="274320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31520" y="23774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31520" y="2450592"/>
            <a:ext cx="45720" cy="4023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5156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2926080" y="2377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github.github.com/gh-aw/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31520" y="30632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31520" y="3136392"/>
            <a:ext cx="45720" cy="40233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5156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Start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292608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github.github.com/gh-aw/setup/quick-start/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31520" y="37490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31520" y="3822192"/>
            <a:ext cx="45720" cy="402336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05156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2926080" y="3749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github.com/githubnext/agentics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31520" y="44348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31520" y="4507992"/>
            <a:ext cx="45720" cy="40233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51560" y="4434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Blog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2926080" y="4434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github.blog/ai-and-ml/automate-repository-tasks-with-github-agentic-workflows/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73152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discuss follow-up sessions for your other Innovate themes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731520" y="5715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(113 ideas)</a:t>
            </a:r>
            <a:r>
              <a:rPr lang="en-US" sz="16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600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AI (22 ideas)</a:t>
            </a:r>
            <a:r>
              <a:rPr lang="en-US" sz="16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6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Intelligence (89 ideas)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31520" y="6309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3BA244-07F4-A54F-6C8C-FD91AB1408A2}"/>
              </a:ext>
            </a:extLst>
          </p:cNvPr>
          <p:cNvSpPr txBox="1"/>
          <p:nvPr/>
        </p:nvSpPr>
        <p:spPr>
          <a:xfrm>
            <a:off x="8360228" y="830798"/>
            <a:ext cx="2832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3"/>
              </a:rPr>
              <a:t>Wizard to create AW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hlinkClick r:id="rId4"/>
              </a:rPr>
              <a:t>Gallery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1570</Words>
  <Application>Microsoft Office PowerPoint</Application>
  <PresentationFormat>Widescreen</PresentationFormat>
  <Paragraphs>248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Cascadia Code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Agentic Workflows — CBRE Innovate 2026</dc:title>
  <dc:subject>PptxGenJS Presentation</dc:subject>
  <dc:creator>Len Volk — Microsoft</dc:creator>
  <cp:lastModifiedBy>Len Volk</cp:lastModifiedBy>
  <cp:revision>8</cp:revision>
  <dcterms:created xsi:type="dcterms:W3CDTF">2026-04-17T16:32:54Z</dcterms:created>
  <dcterms:modified xsi:type="dcterms:W3CDTF">2026-10-21T16:50:41Z</dcterms:modified>
</cp:coreProperties>
</file>