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4" r:id="rId15"/>
    <p:sldId id="265" r:id="rId16"/>
    <p:sldId id="266" r:id="rId17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7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131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Beat 4 is standalone; it does not need Beats 1-3.</a:t>
            </a:r>
          </a:p>
          <a:p>
            <a:r>
              <a:t>The factory (lenvolk/gh-aw-dryrun) holds three things: the repository catalog (templates/catalog.json), the Java modernization template (gh-aw agent workflows, orchestrator workflows, custom agents, skills, scripts, deploy.ps1) and the Software Factory canvas in the GitHub Copilot app.</a:t>
            </a:r>
          </a:p>
          <a:p>
            <a:r>
              <a:t>Deploy copies the template into the nominated target (lenvolk/java-migration-copilot-samples). The workflows run there, in its GitHub Actions; the canvas monitors them with live progress bars, like one dashboard over many pipelines.</a:t>
            </a:r>
          </a:p>
          <a:p>
            <a:r>
              <a:t>Only nominated repositories may spend minutes and AI credits: JTicket is listed but not nominated, so it is greyed out.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Same order as GitHub Copilot app modernization (assess, plan, execute, validate), built with our own gh-aw agents and standard Java tools. It does not run that product and is not a supported product feature.</a:t>
            </a:r>
          </a:p>
          <a:p>
            <a:r>
              <a:t>Assess: a /modernize issue starts it. Tools only, no AI: tests on JDK 8, dependency tree, jdeps/jdeprscan, SpotBugs, OpenRewrite dry run, OSV.dev. Two read-only analyst agents turn the facts into findings with stable IDs. Gate 1: a human approves the Assessment Report, including the predicted cost per stage.</a:t>
            </a:r>
          </a:p>
          <a:p>
            <a:r>
              <a:t>Plan: a planner agent writes plan.md in a plan PR; a deterministic check confirms every finding ID is owned by a step. Gate 2: a human merges the plan. Only Markdown and evidence land in main.</a:t>
            </a:r>
          </a:p>
          <a:p>
            <a:r>
              <a:t>Execute and validate: build-upgrader then code-fixer (one writer at a time), verify on JDK 21 (no AI), Spec and Standards reviewers in parallel, finalize posts actual vs predicted cost. Gate 3: a human approves the Implementation PR with a review, without merging, so the demo can repeat.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the canvas, the token and the three gates are direct human clicks that never pass through AI. Deploy, Update template, Explain the report and Troubleshoot send a prompt to the Copilot agent in the session, which does the work in the chat and asks before it pushes anything.</a:t>
            </a:r>
          </a:p>
          <a:p>
            <a:r>
              <a:t>Progress is real: bars count completed jobs and steps from the GitHub Actions API.</a:t>
            </a:r>
          </a:p>
          <a:p>
            <a:r>
              <a:t>Cost: plan for about 200 AI credits (about $2) per full run; threat detection is about 30% of it. Runner time is about 85 minutes, free on a public fork, $0.006 per minute on a private repository. The Assessment Report predicts the cost of every stage before gate 1; finalize posts actual vs predicted before gate 3.</a:t>
            </a:r>
          </a:p>
          <a:p>
            <a:r>
              <a:t>Because the full run takes about an hour, pre-run it before the meeting and replay it with Open an existing request.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7532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28116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78408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8700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78992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9284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77240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7532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7824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28116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78408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28700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78992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29284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77240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7532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77824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28116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78408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028700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78992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129284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77240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7532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7824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28116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78408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028700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78992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129284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77240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27532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77824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928116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978408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028700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078992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129284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77240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27532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77824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28116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978408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028700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078992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129284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31520" y="1097280"/>
            <a:ext cx="73152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62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62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62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Workflows</a:t>
            </a:r>
            <a:endParaRPr lang="en-US" sz="6200" dirty="0"/>
          </a:p>
        </p:txBody>
      </p:sp>
      <p:sp>
        <p:nvSpPr>
          <p:cNvPr id="52" name="Text 50"/>
          <p:cNvSpPr/>
          <p:nvPr/>
        </p:nvSpPr>
        <p:spPr>
          <a:xfrm>
            <a:off x="731520" y="3657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Repository automation powered by AI agents</a:t>
            </a:r>
            <a:endParaRPr lang="en-US" sz="2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enterprise-grade security guardrails</a:t>
            </a:r>
            <a:endParaRPr lang="en-US" sz="2400" dirty="0"/>
          </a:p>
        </p:txBody>
      </p:sp>
      <p:sp>
        <p:nvSpPr>
          <p:cNvPr id="53" name="Shape 51"/>
          <p:cNvSpPr/>
          <p:nvPr/>
        </p:nvSpPr>
        <p:spPr>
          <a:xfrm>
            <a:off x="731520" y="3566160"/>
            <a:ext cx="274320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731520" y="53035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</a:t>
            </a: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Shift: From Deterministic to Judgment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58952" y="1408176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1371600"/>
            <a:ext cx="475488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D299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GitHub Actions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005840" y="2194560"/>
            <a:ext cx="44805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Deterministic: if X → do 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scenario must be pre-coded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Complex YAML configurations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Rigid — can't handle nuance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Bug triage, doc updates, arch reviews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need humans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28232" y="1408176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00800" y="1371600"/>
            <a:ext cx="5029200" cy="4389120"/>
          </a:xfrm>
          <a:prstGeom prst="roundRect">
            <a:avLst>
              <a:gd name="adj" fmla="val 2500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537960" y="1371600"/>
            <a:ext cx="475488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75120" y="15544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Workflows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675120" y="2194560"/>
            <a:ext cx="44805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i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"Productive Ambiguity"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agents that exercise judgment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in plain markdown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— adapts to context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Inherits Actions ecosystem: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logs, secrets, permissions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0" y="30175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Next + Microsoft Research — "Continuous AI" vision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Works: Markdown → Agent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58952" y="1408176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37160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68680" y="1371600"/>
            <a:ext cx="3017520" cy="36576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05840" y="1600200"/>
            <a:ext cx="502920" cy="457200"/>
          </a:xfrm>
          <a:prstGeom prst="roundRect">
            <a:avLst>
              <a:gd name="adj" fmla="val 16000"/>
            </a:avLst>
          </a:prstGeom>
          <a:solidFill>
            <a:srgbClr val="1F6FEB">
              <a:alpha val="15000"/>
            </a:srgbClr>
          </a:solidFill>
          <a:ln w="1524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05840" y="1618488"/>
            <a:ext cx="502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EB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Markdown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1005840" y="2286000"/>
            <a:ext cx="2743200" cy="2926080"/>
          </a:xfrm>
          <a:prstGeom prst="roundRect">
            <a:avLst>
              <a:gd name="adj" fmla="val 2667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3000" y="2377440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84F58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---</a:t>
            </a:r>
            <a:r>
              <a:rPr lang="en-US" sz="1100" dirty="0">
                <a:solidFill>
                  <a:srgbClr val="58A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on:</a:t>
            </a:r>
            <a:r>
              <a:rPr lang="en-US" sz="11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pull_request:</a:t>
            </a:r>
            <a:r>
              <a:rPr lang="en-US" sz="1100" dirty="0">
                <a:solidFill>
                  <a:srgbClr val="58A6FF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permissions: read-allsafe-outputs:</a:t>
            </a:r>
            <a:r>
              <a:rPr lang="en-US" sz="11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  add-comment:</a:t>
            </a:r>
            <a:r>
              <a:rPr lang="en-US" sz="1100" dirty="0">
                <a:solidFill>
                  <a:srgbClr val="484F58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---</a:t>
            </a:r>
            <a:r>
              <a:rPr lang="en-US" sz="1100" b="1" dirty="0">
                <a:solidFill>
                  <a:srgbClr val="3FB95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# Big-O Auditor</a:t>
            </a:r>
            <a:r>
              <a:rPr lang="en-US" sz="1100" dirty="0">
                <a:solidFill>
                  <a:srgbClr val="E6EDF3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Analyze code foralgorithmic complexity.Suggest optimizations.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77640" y="3017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238636"/>
                </a:solidFill>
              </a:rPr>
              <a:t>→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4599432" y="1408176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0" y="137160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1371600"/>
            <a:ext cx="301752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846320" y="1600200"/>
            <a:ext cx="502920" cy="457200"/>
          </a:xfrm>
          <a:prstGeom prst="roundRect">
            <a:avLst>
              <a:gd name="adj" fmla="val 16000"/>
            </a:avLst>
          </a:prstGeom>
          <a:solidFill>
            <a:srgbClr val="238636">
              <a:alpha val="15000"/>
            </a:srgbClr>
          </a:solidFill>
          <a:ln w="15240">
            <a:solidFill>
              <a:srgbClr val="2386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618488"/>
            <a:ext cx="502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38636"/>
                </a:solidFill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48640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46320" y="2286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Run: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846320" y="2743200"/>
            <a:ext cx="2743200" cy="594360"/>
          </a:xfrm>
          <a:prstGeom prst="roundRect">
            <a:avLst>
              <a:gd name="adj" fmla="val 9231"/>
            </a:avLst>
          </a:prstGeom>
          <a:solidFill>
            <a:srgbClr val="0D1117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983480" y="278892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FB950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$ gh aw compile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846320" y="35661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hardened</a:t>
            </a:r>
            <a:r>
              <a:rPr lang="en-US" sz="16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.lock.yml workflow</a:t>
            </a: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Sanitized, auditable,minimal permissions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818120" y="3017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238636"/>
                </a:solidFill>
              </a:rPr>
              <a:t>→</a:t>
            </a:r>
            <a:endParaRPr lang="en-US" sz="3600" dirty="0"/>
          </a:p>
        </p:txBody>
      </p:sp>
      <p:sp>
        <p:nvSpPr>
          <p:cNvPr id="26" name="Shape 24"/>
          <p:cNvSpPr/>
          <p:nvPr/>
        </p:nvSpPr>
        <p:spPr>
          <a:xfrm>
            <a:off x="8439912" y="1408176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412480" y="1371600"/>
            <a:ext cx="3291840" cy="4114800"/>
          </a:xfrm>
          <a:prstGeom prst="roundRect">
            <a:avLst>
              <a:gd name="adj" fmla="val 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549640" y="1371600"/>
            <a:ext cx="3017520" cy="36576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686800" y="1600200"/>
            <a:ext cx="502920" cy="457200"/>
          </a:xfrm>
          <a:prstGeom prst="roundRect">
            <a:avLst>
              <a:gd name="adj" fmla="val 16000"/>
            </a:avLst>
          </a:prstGeom>
          <a:solidFill>
            <a:srgbClr val="A371F7">
              <a:alpha val="15000"/>
            </a:srgbClr>
          </a:solidFill>
          <a:ln w="15240">
            <a:solidFill>
              <a:srgbClr val="A371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686800" y="1618488"/>
            <a:ext cx="502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371F7"/>
                </a:solidFill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326880" y="160020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Runs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686800" y="2286000"/>
            <a:ext cx="2743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PR / Issue / Schedule:</a:t>
            </a: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Reads code &amp; context✓  Exercises judgment✓  Suggests improvements✓  Posts PR comment</a:t>
            </a:r>
            <a:r>
              <a:rPr lang="en-US" sz="15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in GitHub Actions</a:t>
            </a:r>
            <a:r>
              <a:rPr lang="en-US" sz="14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Team-visible logs &amp; audit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CBRE 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Security: 5-Layer Defense-in-Depth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of an agent  +  guardrails of CI/CD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58952" y="154533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50876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600200"/>
            <a:ext cx="45720" cy="640080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051560" y="1673352"/>
            <a:ext cx="502920" cy="502920"/>
          </a:xfrm>
          <a:prstGeom prst="ellipse">
            <a:avLst/>
          </a:prstGeom>
          <a:solidFill>
            <a:srgbClr val="1F6FEB">
              <a:alpha val="20000"/>
            </a:srgbClr>
          </a:solidFill>
          <a:ln w="1905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51560" y="1673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16002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Tokens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029200" y="158191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gets read-only GitHub token.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Cannot push, create PRs, or delete.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58952" y="250545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246888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1520" y="2560320"/>
            <a:ext cx="45720" cy="64008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51560" y="2633472"/>
            <a:ext cx="502920" cy="502920"/>
          </a:xfrm>
          <a:prstGeom prst="ellipse">
            <a:avLst/>
          </a:prstGeom>
          <a:solidFill>
            <a:srgbClr val="58A6FF">
              <a:alpha val="20000"/>
            </a:srgbClr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51560" y="26334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828800" y="256032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Secrets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29200" y="254203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tokens exist only in isolated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post-agent jobs. Nothing to steal.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58952" y="346557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31520" y="342900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31520" y="3520440"/>
            <a:ext cx="45720" cy="64008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051560" y="3593592"/>
            <a:ext cx="502920" cy="502920"/>
          </a:xfrm>
          <a:prstGeom prst="ellipse">
            <a:avLst/>
          </a:prstGeom>
          <a:solidFill>
            <a:srgbClr val="3FB950">
              <a:alpha val="20000"/>
            </a:srgbClr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1560" y="35935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828800" y="35204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Container + Firewall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029200" y="350215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container. AWF proxy enforces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allowlist. Non-allowed = dropped.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58952" y="442569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31520" y="438912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731520" y="4480560"/>
            <a:ext cx="45720" cy="640080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051560" y="4553712"/>
            <a:ext cx="502920" cy="502920"/>
          </a:xfrm>
          <a:prstGeom prst="ellipse">
            <a:avLst/>
          </a:prstGeom>
          <a:solidFill>
            <a:srgbClr val="A371F7">
              <a:alpha val="20000"/>
            </a:srgbClr>
          </a:solidFill>
          <a:ln w="19050">
            <a:solidFill>
              <a:srgbClr val="A371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51560" y="45537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828800" y="448056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 Outputs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5029200" y="446227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produces structured artifact.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Gated write job applies only permitted ops.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58952" y="5385816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31520" y="5349240"/>
            <a:ext cx="10698480" cy="82296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31520" y="5440680"/>
            <a:ext cx="45720" cy="640080"/>
          </a:xfrm>
          <a:prstGeom prst="rect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1051560" y="5513832"/>
            <a:ext cx="502920" cy="502920"/>
          </a:xfrm>
          <a:prstGeom prst="ellipse">
            <a:avLst/>
          </a:prstGeom>
          <a:solidFill>
            <a:srgbClr val="F85149">
              <a:alpha val="20000"/>
            </a:srgbClr>
          </a:solidFill>
          <a:ln w="1905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051560" y="55138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1828800" y="54406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Detection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029200" y="542239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scan: prompt injection,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leaked creds, malicious code. Fail = halt.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731520" y="6263640"/>
            <a:ext cx="10698480" cy="502920"/>
          </a:xfrm>
          <a:prstGeom prst="roundRect">
            <a:avLst>
              <a:gd name="adj" fmla="val 14545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14400" y="629107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38636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Event → Agent (read-only) → Artifact → Threat Scan → Write Job (scoped) → GitHub API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Big-O Auditor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agent that reviews PRs for algorithmic complexity — written in natural language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9319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02920" y="1554480"/>
            <a:ext cx="1828800" cy="36576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43000" y="1783080"/>
            <a:ext cx="548640" cy="548640"/>
          </a:xfrm>
          <a:prstGeom prst="ellipse">
            <a:avLst/>
          </a:prstGeom>
          <a:solidFill>
            <a:srgbClr val="1F6FEB">
              <a:alpha val="25000"/>
            </a:srgbClr>
          </a:solidFill>
          <a:ln w="19050">
            <a:solidFill>
              <a:srgbClr val="1F6FE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4300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292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agent.md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YAML header: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permissions, triggers,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(Copilot)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377440" y="29260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38636"/>
                </a:solidFill>
              </a:rPr>
              <a:t>›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277063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880360" y="1554480"/>
            <a:ext cx="182880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520440" y="1783080"/>
            <a:ext cx="548640" cy="548640"/>
          </a:xfrm>
          <a:prstGeom prst="ellipse">
            <a:avLst/>
          </a:prstGeom>
          <a:solidFill>
            <a:srgbClr val="58A6FF">
              <a:alpha val="25000"/>
            </a:srgbClr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52044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288036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288036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"Analyze code for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Big-O complexity.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Suggest optimization."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754880" y="29260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38636"/>
                </a:solidFill>
              </a:rPr>
              <a:t>›</a:t>
            </a:r>
            <a:endParaRPr lang="en-US" sz="2800" dirty="0"/>
          </a:p>
        </p:txBody>
      </p:sp>
      <p:sp>
        <p:nvSpPr>
          <p:cNvPr id="23" name="Shape 21"/>
          <p:cNvSpPr/>
          <p:nvPr/>
        </p:nvSpPr>
        <p:spPr>
          <a:xfrm>
            <a:off x="514807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12064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257800" y="1554480"/>
            <a:ext cx="182880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897880" y="1783080"/>
            <a:ext cx="548640" cy="548640"/>
          </a:xfrm>
          <a:prstGeom prst="ellipse">
            <a:avLst/>
          </a:prstGeom>
          <a:solidFill>
            <a:srgbClr val="238636">
              <a:alpha val="25000"/>
            </a:srgbClr>
          </a:solidFill>
          <a:ln w="19050">
            <a:solidFill>
              <a:srgbClr val="23863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89788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25780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 aw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5780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Generates hardened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.lock.yml workflow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automatically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32320" y="29260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38636"/>
                </a:solidFill>
              </a:rPr>
              <a:t>›</a:t>
            </a:r>
            <a:endParaRPr lang="en-US" sz="2800" dirty="0"/>
          </a:p>
        </p:txBody>
      </p:sp>
      <p:sp>
        <p:nvSpPr>
          <p:cNvPr id="31" name="Shape 29"/>
          <p:cNvSpPr/>
          <p:nvPr/>
        </p:nvSpPr>
        <p:spPr>
          <a:xfrm>
            <a:off x="752551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749808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635240" y="1554480"/>
            <a:ext cx="182880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8275320" y="1783080"/>
            <a:ext cx="548640" cy="548640"/>
          </a:xfrm>
          <a:prstGeom prst="ellipse">
            <a:avLst/>
          </a:prstGeom>
          <a:solidFill>
            <a:srgbClr val="D29922">
              <a:alpha val="25000"/>
            </a:srgbClr>
          </a:solidFill>
          <a:ln w="19050">
            <a:solidFill>
              <a:srgbClr val="D299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7532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299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763524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Request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63524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 O(n²) code.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activates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PR trigger.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509760" y="29260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238636"/>
                </a:solidFill>
              </a:rPr>
              <a:t>›</a:t>
            </a:r>
            <a:endParaRPr lang="en-US" sz="2800" dirty="0"/>
          </a:p>
        </p:txBody>
      </p:sp>
      <p:sp>
        <p:nvSpPr>
          <p:cNvPr id="39" name="Shape 37"/>
          <p:cNvSpPr/>
          <p:nvPr/>
        </p:nvSpPr>
        <p:spPr>
          <a:xfrm>
            <a:off x="9902952" y="1591056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9875520" y="1554480"/>
            <a:ext cx="2103120" cy="4114800"/>
          </a:xfrm>
          <a:prstGeom prst="roundRect">
            <a:avLst>
              <a:gd name="adj" fmla="val 5217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0012680" y="1554480"/>
            <a:ext cx="182880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0652760" y="1783080"/>
            <a:ext cx="548640" cy="548640"/>
          </a:xfrm>
          <a:prstGeom prst="ellipse">
            <a:avLst/>
          </a:prstGeom>
          <a:solidFill>
            <a:srgbClr val="3FB950">
              <a:alpha val="25000"/>
            </a:srgbClr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1065276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10012680" y="24688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</a:t>
            </a:r>
            <a:endParaRPr lang="en-US" sz="18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Reviews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0012680" y="34290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Finds inefficiency.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Suggests O(n) fix.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perf impact.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~3 minutes to execute · Results posted as PR comment with formatted table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Can Your Teams Build?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design patterns · Ready-made examples at github.com/githubnext/agentics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58952" y="15910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1520" y="15544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8680" y="1554480"/>
            <a:ext cx="3154680" cy="36576"/>
          </a:xfrm>
          <a:prstGeom prst="rect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1440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508760" y="17373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Issue &amp; PR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Management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26060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Auto-triage, labeling,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coordination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07992" y="15910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480560" y="15544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17720" y="1554480"/>
            <a:ext cx="3154680" cy="3657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6344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📄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257800" y="17373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663440" y="26060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Auto-update docs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code changes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57032" y="15910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29600" y="15544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366760" y="1554480"/>
            <a:ext cx="3154680" cy="36576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412480" y="1783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9006840" y="17373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Quality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Testing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26060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 failure diagnosis,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improvements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58952" y="41056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31520" y="40690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68680" y="4069080"/>
            <a:ext cx="3154680" cy="36576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91440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508760" y="4251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&amp;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14400" y="51206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reports, trend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analysis, health monitoring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507992" y="41056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480560" y="40690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617720" y="4069080"/>
            <a:ext cx="315468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66344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🔄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5257800" y="4251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Improvement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663440" y="51206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Daily code simplification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refactoring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8257032" y="4105656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8229600" y="4069080"/>
            <a:ext cx="3429000" cy="2148840"/>
          </a:xfrm>
          <a:prstGeom prst="roundRect">
            <a:avLst>
              <a:gd name="adj" fmla="val 5106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366760" y="4069080"/>
            <a:ext cx="3154680" cy="3657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841248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🌐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9006840" y="425196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Multi-Repo</a:t>
            </a:r>
            <a:endParaRPr lang="en-US" sz="1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Operations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412480" y="51206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sync across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repositories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2026  ·  ADO/GitHub with Microsoft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Innovate × Agentic Workflows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9144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gh-aw maps to your hackathon themes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3017520"/>
        </p:xfrm>
        <a:graphic>
          <a:graphicData uri="http://schemas.openxmlformats.org/drawingml/2006/table">
            <a:tbl>
              <a:tblPr/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386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Innovate Theme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386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Ideas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386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gh-aw Fit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3863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 Workflow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AI &amp; Multi-Agent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113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FB95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Direct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per repo task, orchestrated via dispatch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DevOps / SDLC Automation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35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FB95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Direct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 review, test gen, pipeline quality gates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Document Intelligence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89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D2992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⚡ Partial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Auto-generate docs from code changes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RAG &amp; Knowledge Retrieval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59+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D29922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⚡ Partial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Knowledge-grounded PR review via MCP Gateway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6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IaC &amp; Cloud Automation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E6EDF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FB95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Direct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49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Terraform linting, infra validation on push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5"/>
          <p:cNvSpPr/>
          <p:nvPr/>
        </p:nvSpPr>
        <p:spPr>
          <a:xfrm>
            <a:off x="73152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gh-aw directly addresses 178+ of CBRE's 500+ innovation ideas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856232" y="5614416"/>
            <a:ext cx="8503920" cy="685800"/>
          </a:xfrm>
          <a:prstGeom prst="roundRect">
            <a:avLst>
              <a:gd name="adj" fmla="val 16000"/>
            </a:avLst>
          </a:prstGeom>
          <a:solidFill>
            <a:srgbClr val="000000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1828800" y="5577840"/>
            <a:ext cx="8503920" cy="685800"/>
          </a:xfrm>
          <a:prstGeom prst="roundRect">
            <a:avLst>
              <a:gd name="adj" fmla="val 16000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011680" y="5623560"/>
            <a:ext cx="8138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 Teams can fork examples from github.com/githubnext/agentics and start building today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27532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7824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28116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78408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028700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78992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1292840" y="9144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77240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7532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77824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28116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78408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28700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078992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1292840" y="141732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77240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827532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77824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28116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78408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028700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78992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1292840" y="192024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77240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27532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877824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28116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78408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028700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078992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1292840" y="242316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77240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27532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877824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928116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978408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1028700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078992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11292840" y="292608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777240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27532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77824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28116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978408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1028700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078992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11292840" y="3429000"/>
            <a:ext cx="45720" cy="45720"/>
          </a:xfrm>
          <a:prstGeom prst="ellipse">
            <a:avLst/>
          </a:prstGeom>
          <a:solidFill>
            <a:srgbClr val="238636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31520" y="91440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Started</a:t>
            </a:r>
            <a:endParaRPr lang="en-US" sz="5400" dirty="0"/>
          </a:p>
        </p:txBody>
      </p:sp>
      <p:sp>
        <p:nvSpPr>
          <p:cNvPr id="52" name="Shape 50"/>
          <p:cNvSpPr/>
          <p:nvPr/>
        </p:nvSpPr>
        <p:spPr>
          <a:xfrm>
            <a:off x="731520" y="1965960"/>
            <a:ext cx="2743200" cy="3657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31520" y="2377440"/>
            <a:ext cx="6858000" cy="54864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31520" y="2450592"/>
            <a:ext cx="45720" cy="402336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1051560" y="23774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2926080" y="23774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github.github.com/gh-aw/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731520" y="3063240"/>
            <a:ext cx="6858000" cy="54864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31520" y="3136392"/>
            <a:ext cx="45720" cy="402336"/>
          </a:xfrm>
          <a:prstGeom prst="rect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051560" y="30632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3863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Start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2926080" y="30632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github.github.com/gh-aw/setup/quick-start/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731520" y="3749040"/>
            <a:ext cx="6858000" cy="54864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731520" y="3822192"/>
            <a:ext cx="45720" cy="402336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1051560" y="37490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Examples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2926080" y="37490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github.com/githubnext/agentics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731520" y="4434840"/>
            <a:ext cx="6858000" cy="548640"/>
          </a:xfrm>
          <a:prstGeom prst="roundRect">
            <a:avLst>
              <a:gd name="adj" fmla="val 13333"/>
            </a:avLst>
          </a:prstGeom>
          <a:solidFill>
            <a:srgbClr val="21262D"/>
          </a:solidFill>
          <a:ln w="635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731520" y="4507992"/>
            <a:ext cx="45720" cy="402336"/>
          </a:xfrm>
          <a:prstGeom prst="rect">
            <a:avLst/>
          </a:prstGeom>
          <a:solidFill>
            <a:srgbClr val="D299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1051560" y="443484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2992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Blog</a:t>
            </a:r>
            <a:endParaRPr lang="en-US" sz="1800" dirty="0"/>
          </a:p>
        </p:txBody>
      </p:sp>
      <p:sp>
        <p:nvSpPr>
          <p:cNvPr id="68" name="Text 66"/>
          <p:cNvSpPr/>
          <p:nvPr/>
        </p:nvSpPr>
        <p:spPr>
          <a:xfrm>
            <a:off x="2926080" y="44348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B949E"/>
                </a:solidFill>
                <a:latin typeface="Cascadia Code" pitchFamily="34" charset="0"/>
                <a:ea typeface="Cascadia Code" pitchFamily="34" charset="-122"/>
                <a:cs typeface="Cascadia Code" pitchFamily="34" charset="-120"/>
              </a:rPr>
              <a:t>github.blog/ai-and-ml/automate-repository-tasks-with-github-agentic-workflows/</a:t>
            </a:r>
            <a:endParaRPr lang="en-US" sz="1400" dirty="0"/>
          </a:p>
        </p:txBody>
      </p:sp>
      <p:sp>
        <p:nvSpPr>
          <p:cNvPr id="69" name="Text 67"/>
          <p:cNvSpPr/>
          <p:nvPr/>
        </p:nvSpPr>
        <p:spPr>
          <a:xfrm>
            <a:off x="731520" y="5303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E6EDF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discuss follow-up sessions for your other Innovate themes</a:t>
            </a:r>
            <a:endParaRPr lang="en-US" sz="2000" dirty="0"/>
          </a:p>
        </p:txBody>
      </p:sp>
      <p:sp>
        <p:nvSpPr>
          <p:cNvPr id="70" name="Text 68"/>
          <p:cNvSpPr/>
          <p:nvPr/>
        </p:nvSpPr>
        <p:spPr>
          <a:xfrm>
            <a:off x="731520" y="5715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(113 ideas)</a:t>
            </a:r>
            <a:r>
              <a:rPr lang="en-US" sz="16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r>
              <a:rPr lang="en-US" sz="1600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AI (22 ideas)</a:t>
            </a:r>
            <a:r>
              <a:rPr lang="en-US" sz="16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</a:t>
            </a:r>
            <a:r>
              <a:rPr lang="en-US" sz="1600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Intelligence (89 ideas)</a:t>
            </a:r>
            <a:endParaRPr lang="en-US" sz="1600" dirty="0"/>
          </a:p>
        </p:txBody>
      </p:sp>
      <p:sp>
        <p:nvSpPr>
          <p:cNvPr id="71" name="Text 69"/>
          <p:cNvSpPr/>
          <p:nvPr/>
        </p:nvSpPr>
        <p:spPr>
          <a:xfrm>
            <a:off x="731520" y="6309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38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Innovate 2026  ·  ADO/GitHub with Microsoft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6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Demo: The Software Factory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Beat 4 — one repository acts as the team and modernizes Java in the repos it nominates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591056"/>
            <a:ext cx="10725912" cy="4096024"/>
          </a:xfrm>
          <a:prstGeom prst="roundRect">
            <a:avLst>
              <a:gd name="adj" fmla="val 2678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725912" cy="4096024"/>
          </a:xfrm>
          <a:prstGeom prst="roundRect">
            <a:avLst>
              <a:gd name="adj" fmla="val 2678"/>
            </a:avLst>
          </a:prstGeom>
          <a:solidFill>
            <a:srgbClr val="161B22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eat-4-factory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27632"/>
            <a:ext cx="10579608" cy="3949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5897880"/>
            <a:ext cx="10725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Factory = catalog + template + canvas</a:t>
            </a:r>
            <a:r>
              <a:rPr sz="14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   ·   Target: Asset Manager, Java 8 / Spring Boot 2.7 → Java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38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Innovate 2026  ·  ADO/GitHub with Microsoft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Assess → Plan → Execute → Validate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Tools measure the facts, gh-aw agents do the judgment work, a human approves each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591056"/>
            <a:ext cx="8043394" cy="4663440"/>
          </a:xfrm>
          <a:prstGeom prst="roundRect">
            <a:avLst>
              <a:gd name="adj" fmla="val 2352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8043394" cy="4663440"/>
          </a:xfrm>
          <a:prstGeom prst="roundRect">
            <a:avLst>
              <a:gd name="adj" fmla="val 2352"/>
            </a:avLst>
          </a:prstGeom>
          <a:solidFill>
            <a:srgbClr val="161B22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eat-4-pipeline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27632"/>
            <a:ext cx="7897090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4954" y="1591056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067522" y="1554480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04682" y="1554480"/>
            <a:ext cx="2115589" cy="36576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50402" y="1719072"/>
            <a:ext cx="347472" cy="347472"/>
          </a:xfrm>
          <a:prstGeom prst="ellipse">
            <a:avLst/>
          </a:prstGeom>
          <a:solidFill>
            <a:srgbClr val="D29922">
              <a:alpha val="25000"/>
            </a:srgbClr>
          </a:solidFill>
          <a:ln w="190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50402" y="1719072"/>
            <a:ext cx="347472" cy="34747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9314" y="1719072"/>
            <a:ext cx="1658389" cy="34747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GATE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0402" y="2139696"/>
            <a:ext cx="2024149" cy="29260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Approve the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0402" y="2450591"/>
            <a:ext cx="2024149" cy="414527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Findings and predicted cost. No file has changed.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4954" y="3221736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67522" y="3185160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04682" y="3185160"/>
            <a:ext cx="2115589" cy="36576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50402" y="3349752"/>
            <a:ext cx="347472" cy="347472"/>
          </a:xfrm>
          <a:prstGeom prst="ellipse">
            <a:avLst/>
          </a:prstGeom>
          <a:solidFill>
            <a:srgbClr val="D29922">
              <a:alpha val="25000"/>
            </a:srgbClr>
          </a:solidFill>
          <a:ln w="190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0402" y="3349752"/>
            <a:ext cx="347472" cy="34747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89314" y="3349752"/>
            <a:ext cx="1658389" cy="34747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GATE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0402" y="3770375"/>
            <a:ext cx="2024149" cy="29260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Merge the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0402" y="4081271"/>
            <a:ext cx="2024149" cy="414527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Only Markdown and evidence reach main.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94954" y="4852416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67522" y="4815840"/>
            <a:ext cx="2389909" cy="1402080"/>
          </a:xfrm>
          <a:prstGeom prst="roundRect">
            <a:avLst>
              <a:gd name="adj" fmla="val 7826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04682" y="4815840"/>
            <a:ext cx="2115589" cy="36576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250402" y="4980432"/>
            <a:ext cx="347472" cy="347472"/>
          </a:xfrm>
          <a:prstGeom prst="ellipse">
            <a:avLst/>
          </a:prstGeom>
          <a:solidFill>
            <a:srgbClr val="D29922">
              <a:alpha val="25000"/>
            </a:srgbClr>
          </a:solidFill>
          <a:ln w="190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50402" y="4980432"/>
            <a:ext cx="347472" cy="34747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9314" y="4980432"/>
            <a:ext cx="1658389" cy="34747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3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GATE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50402" y="5401056"/>
            <a:ext cx="2024149" cy="29260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Approve, don’t merge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0402" y="5711951"/>
            <a:ext cx="2024149" cy="414527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Review only; main stays on Java 8.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2386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Innovate 2026  ·  ADO/GitHub with Microsoft</a:t>
            </a:r>
          </a:p>
        </p:txBody>
      </p:sp>
      <p:sp>
        <p:nvSpPr>
          <p:cNvPr id="4" name="Text 2"/>
          <p:cNvSpPr txBox="1"/>
          <p:nvPr/>
        </p:nvSpPr>
        <p:spPr>
          <a:xfrm>
            <a:off x="11155680" y="6446520"/>
            <a:ext cx="82296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 i="0">
                <a:solidFill>
                  <a:srgbClr val="484F58"/>
                </a:solidFill>
                <a:latin typeface="Segoe UI"/>
                <a:ea typeface="Segoe UI"/>
                <a:cs typeface="Segoe UI"/>
              </a:rPr>
              <a:t>8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"/>
            <a:ext cx="100584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8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One Canvas: Buttons, Not Scripts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The Software Factory canvas drives the run and shows live progress and cost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1591056"/>
            <a:ext cx="5225796" cy="2011680"/>
          </a:xfrm>
          <a:prstGeom prst="roundRect">
            <a:avLst>
              <a:gd name="adj" fmla="val 5454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225796" cy="2011680"/>
          </a:xfrm>
          <a:prstGeom prst="roundRect">
            <a:avLst>
              <a:gd name="adj" fmla="val 5454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1554480"/>
            <a:ext cx="4951476" cy="36576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4677156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8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Direct clicks — never through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4677156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✓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Save the Copilot token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✓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Start the /modernize request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✓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Approve gate 1, merge the plan (gate 2)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✓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Approve the Implementation PR (gate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9068" y="1591056"/>
            <a:ext cx="5225796" cy="2011680"/>
          </a:xfrm>
          <a:prstGeom prst="roundRect">
            <a:avLst>
              <a:gd name="adj" fmla="val 5454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31636" y="1554480"/>
            <a:ext cx="5225796" cy="2011680"/>
          </a:xfrm>
          <a:prstGeom prst="roundRect">
            <a:avLst>
              <a:gd name="adj" fmla="val 5454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68796" y="1554480"/>
            <a:ext cx="4951476" cy="36576"/>
          </a:xfrm>
          <a:prstGeom prst="rect">
            <a:avLst/>
          </a:prstGeom>
          <a:solidFill>
            <a:srgbClr val="A37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5955" y="1737360"/>
            <a:ext cx="4677156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18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Prompts to the Copilot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5955" y="2240280"/>
            <a:ext cx="4677156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›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Deploy the template to a nominated repo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›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Update the template (asks before it pushes)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›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Explain the Assessment Report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371F7"/>
                </a:solidFill>
                <a:latin typeface="Segoe UI"/>
                <a:ea typeface="Segoe UI"/>
                <a:cs typeface="Segoe UI"/>
              </a:rPr>
              <a:t>›  </a:t>
            </a:r>
            <a:r>
              <a:rPr sz="1400" b="0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Troubleshoot a failed job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922776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3886200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86200"/>
            <a:ext cx="3118104" cy="36576"/>
          </a:xfrm>
          <a:prstGeom prst="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995928"/>
            <a:ext cx="3026664" cy="6400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3000" b="1" i="0">
                <a:solidFill>
                  <a:srgbClr val="58A6FF"/>
                </a:solidFill>
                <a:latin typeface="Segoe UI"/>
                <a:ea typeface="Segoe UI"/>
                <a:cs typeface="Segoe UI"/>
              </a:rPr>
              <a:t>~200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36008"/>
            <a:ext cx="3026664" cy="320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AI credits per full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956048"/>
            <a:ext cx="3026664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about $2, incl. gh-aw threat detection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25696" y="3922776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98264" y="3886200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5424" y="3886200"/>
            <a:ext cx="3118104" cy="36576"/>
          </a:xfrm>
          <a:prstGeom prst="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81144" y="3995928"/>
            <a:ext cx="3026664" cy="6400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3000" b="1" i="0">
                <a:solidFill>
                  <a:srgbClr val="3FB950"/>
                </a:solidFill>
                <a:latin typeface="Segoe UI"/>
                <a:ea typeface="Segoe UI"/>
                <a:cs typeface="Segoe UI"/>
              </a:rPr>
              <a:t>~85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1144" y="4636008"/>
            <a:ext cx="3026664" cy="320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GitHub Actions runner 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1144" y="4956048"/>
            <a:ext cx="3026664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free on a public repo; $0.006/min if private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3922776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000000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65008" y="3886200"/>
            <a:ext cx="3392424" cy="1600200"/>
          </a:xfrm>
          <a:prstGeom prst="roundRect">
            <a:avLst>
              <a:gd name="adj" fmla="val 6857"/>
            </a:avLst>
          </a:prstGeom>
          <a:solidFill>
            <a:srgbClr val="21262D"/>
          </a:solidFill>
          <a:ln w="635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02168" y="3886200"/>
            <a:ext cx="3118104" cy="36576"/>
          </a:xfrm>
          <a:prstGeom prst="rect">
            <a:avLst/>
          </a:prstGeom>
          <a:solidFill>
            <a:srgbClr val="D29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47888" y="3995928"/>
            <a:ext cx="3026664" cy="6400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3000" b="1" i="0">
                <a:solidFill>
                  <a:srgbClr val="D29922"/>
                </a:solidFill>
                <a:latin typeface="Segoe UI"/>
                <a:ea typeface="Segoe UI"/>
                <a:cs typeface="Segoe UI"/>
              </a:rPr>
              <a:t>Est. → Actual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47888" y="4636008"/>
            <a:ext cx="3026664" cy="320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/>
            <a:r>
              <a:rPr sz="1400" b="1" i="0">
                <a:solidFill>
                  <a:srgbClr val="E6EDF3"/>
                </a:solidFill>
                <a:latin typeface="Segoe UI"/>
                <a:ea typeface="Segoe UI"/>
                <a:cs typeface="Segoe UI"/>
              </a:rPr>
              <a:t>cost of every stage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47888" y="4956048"/>
            <a:ext cx="3026664" cy="4114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2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estimated at gate 1, compared before gate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897880"/>
            <a:ext cx="1072591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 i="0">
                <a:solidFill>
                  <a:srgbClr val="8B949E"/>
                </a:solidFill>
                <a:latin typeface="Segoe UI"/>
                <a:ea typeface="Segoe UI"/>
                <a:cs typeface="Segoe UI"/>
              </a:rPr>
              <a:t>A demo built with gh-aw, not a product feature · same lifecycle order as GitHub Copilot app modernization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754</Words>
  <Application>Microsoft Office PowerPoint</Application>
  <PresentationFormat>Widescreen</PresentationFormat>
  <Paragraphs>188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Cascadia Code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Agentic Workflows — CBRE Innovate 2026</dc:title>
  <dc:subject>PptxGenJS Presentation</dc:subject>
  <dc:creator>Len Volk — Microsoft</dc:creator>
  <cp:lastModifiedBy>Len Volk</cp:lastModifiedBy>
  <cp:revision>7</cp:revision>
  <dcterms:created xsi:type="dcterms:W3CDTF">2026-04-17T16:32:54Z</dcterms:created>
  <dcterms:modified xsi:type="dcterms:W3CDTF">2026-04-19T03:42:19Z</dcterms:modified>
</cp:coreProperties>
</file>