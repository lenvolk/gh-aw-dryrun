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120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2131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7532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7824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28116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78408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8700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78992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29284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7532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77824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28116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78408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28700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78992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29284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7532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77824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28116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78408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28700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78992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129284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77240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27532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77824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28116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78408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28700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78992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129284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77240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27532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77824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28116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78408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28700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78992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129284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77240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27532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77824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28116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78408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028700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078992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129284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31520" y="109728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62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endParaRPr lang="en-US" sz="6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2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Workflows</a:t>
            </a:r>
            <a:endParaRPr lang="en-US" sz="6200" dirty="0"/>
          </a:p>
        </p:txBody>
      </p:sp>
      <p:sp>
        <p:nvSpPr>
          <p:cNvPr id="52" name="Text 50"/>
          <p:cNvSpPr/>
          <p:nvPr/>
        </p:nvSpPr>
        <p:spPr>
          <a:xfrm>
            <a:off x="731520" y="3657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Repository automation powered by AI agents</a:t>
            </a:r>
            <a:endParaRPr lang="en-US" sz="2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enterprise-grade security guardrails</a:t>
            </a:r>
            <a:endParaRPr lang="en-US" sz="2400" dirty="0"/>
          </a:p>
        </p:txBody>
      </p:sp>
      <p:sp>
        <p:nvSpPr>
          <p:cNvPr id="53" name="Shape 51"/>
          <p:cNvSpPr/>
          <p:nvPr/>
        </p:nvSpPr>
        <p:spPr>
          <a:xfrm>
            <a:off x="731520" y="3566160"/>
            <a:ext cx="2743200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31520" y="5303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CBRE Innovate 2026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731520" y="5715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Monday, April 20 · 8:00 AM CT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CBRE Innovate 2026  ·  ADO/GitHub with Microsoft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Shift: From Deterministic to Judgment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58952" y="1408176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1371600"/>
            <a:ext cx="4754880" cy="36576"/>
          </a:xfrm>
          <a:prstGeom prst="rect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299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GitHub Actions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2194560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Deterministic: if X → do 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scenario must be pre-coded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 YAML configurations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Rigid — can't handle nuance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triage, doc updates, arch reviews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still need humans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28232" y="1408176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0" y="137160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37960" y="1371600"/>
            <a:ext cx="4754880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Workflows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75120" y="2194560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i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"Productive Ambiguity"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 that exercise judgment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in plain markdown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Flexible — adapts to context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Inherits Actions ecosystem: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logs, secrets, permissions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0" y="30175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Next + Microsoft Research — "Continuous AI" vision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CBRE Innovate 2026  ·  ADO/GitHub with Microsoft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Works: Markdown → Agent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58952" y="1408176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1371600"/>
            <a:ext cx="3017520" cy="36576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05840" y="1600200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1F6FEB">
              <a:alpha val="15000"/>
            </a:srgbClr>
          </a:solidFill>
          <a:ln w="1524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1618488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6FEB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1600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Markdown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05840" y="228600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3000" y="237744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84F5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---</a:t>
            </a:r>
            <a:r>
              <a:rPr lang="en-US" sz="1100" dirty="0">
                <a:solidFill>
                  <a:srgbClr val="58A6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on:</a:t>
            </a:r>
            <a:r>
              <a:rPr lang="en-US" sz="1100" dirty="0">
                <a:solidFill>
                  <a:srgbClr val="8B949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pull_request:</a:t>
            </a:r>
            <a:r>
              <a:rPr lang="en-US" sz="1100" dirty="0">
                <a:solidFill>
                  <a:srgbClr val="58A6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permissions: read-allsafe-outputs:</a:t>
            </a:r>
            <a:r>
              <a:rPr lang="en-US" sz="1100" dirty="0">
                <a:solidFill>
                  <a:srgbClr val="8B949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add-comment:</a:t>
            </a:r>
            <a:r>
              <a:rPr lang="en-US" sz="1100" dirty="0">
                <a:solidFill>
                  <a:srgbClr val="484F5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---</a:t>
            </a:r>
            <a:r>
              <a:rPr lang="en-US" sz="1100" b="1" dirty="0">
                <a:solidFill>
                  <a:srgbClr val="3FB95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# Big-O Auditor</a:t>
            </a:r>
            <a:r>
              <a:rPr lang="en-US" sz="1100" dirty="0">
                <a:solidFill>
                  <a:srgbClr val="E6EDF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Analyze code foralgorithmic complexity.Suggest optimizations.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7764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238636"/>
                </a:solidFill>
              </a:rPr>
              <a:t>→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4599432" y="1408176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0" y="1371600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1371600"/>
            <a:ext cx="3017520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0" y="1600200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238636">
              <a:alpha val="15000"/>
            </a:srgbClr>
          </a:solidFill>
          <a:ln w="1524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1618488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8636"/>
                </a:solidFill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0" y="1600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46320" y="2286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Run: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46320" y="2743200"/>
            <a:ext cx="2743200" cy="594360"/>
          </a:xfrm>
          <a:prstGeom prst="roundRect">
            <a:avLst>
              <a:gd name="adj" fmla="val 9231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27889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B95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$ gh aw compile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46320" y="356616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Generates hardened</a:t>
            </a:r>
            <a:r>
              <a:rPr lang="en-US" sz="16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.lock.yml workflow</a:t>
            </a: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Sanitized, auditable,minimal permissions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81812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238636"/>
                </a:solidFill>
              </a:rPr>
              <a:t>→</a:t>
            </a:r>
            <a:endParaRPr lang="en-US" sz="3600" dirty="0"/>
          </a:p>
        </p:txBody>
      </p:sp>
      <p:sp>
        <p:nvSpPr>
          <p:cNvPr id="26" name="Shape 24"/>
          <p:cNvSpPr/>
          <p:nvPr/>
        </p:nvSpPr>
        <p:spPr>
          <a:xfrm>
            <a:off x="8439912" y="1408176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412480" y="1371600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549640" y="1371600"/>
            <a:ext cx="3017520" cy="36576"/>
          </a:xfrm>
          <a:prstGeom prst="rect">
            <a:avLst/>
          </a:prstGeom>
          <a:solidFill>
            <a:srgbClr val="A37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686800" y="1600200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A371F7">
              <a:alpha val="15000"/>
            </a:srgbClr>
          </a:solidFill>
          <a:ln w="15240">
            <a:solidFill>
              <a:srgbClr val="A371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86800" y="1618488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371F7"/>
                </a:solidFill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326880" y="1600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Runs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686800" y="228600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PR / Issue / Schedule:</a:t>
            </a: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Reads code &amp; context✓  Exercises judgment✓  Suggests improvements✓  Posts PR comment</a:t>
            </a:r>
            <a:r>
              <a:rPr lang="en-US" sz="15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in GitHub Actions</a:t>
            </a:r>
            <a:r>
              <a:rPr lang="en-US" sz="14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Team-visible logs &amp; audit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CBRE Innovate 2026  ·  ADO/GitHub with Microsoft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Security: 5-Layer Defense-in-Depth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 of an agent  +  guardrails of CI/CD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58952" y="1545336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1600200"/>
            <a:ext cx="45720" cy="64008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51560" y="1673352"/>
            <a:ext cx="502920" cy="502920"/>
          </a:xfrm>
          <a:prstGeom prst="ellipse">
            <a:avLst/>
          </a:prstGeom>
          <a:solidFill>
            <a:srgbClr val="1F6FEB">
              <a:alpha val="20000"/>
            </a:srgbClr>
          </a:solidFill>
          <a:ln w="1905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1560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1600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 Tokens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9200" y="1581912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gets read-only GitHub token.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Cannot push, create PRs, or delete.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58952" y="2505456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2468880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" y="2560320"/>
            <a:ext cx="45720" cy="64008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51560" y="2633472"/>
            <a:ext cx="502920" cy="502920"/>
          </a:xfrm>
          <a:prstGeom prst="ellipse">
            <a:avLst/>
          </a:prstGeom>
          <a:solidFill>
            <a:srgbClr val="58A6FF">
              <a:alpha val="20000"/>
            </a:srgbClr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51560" y="2633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28800" y="25603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Secrets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29200" y="2542032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tokens exist only in isolated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post-agent jobs. Nothing to steal.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58952" y="3465576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1520" y="3429000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" y="3520440"/>
            <a:ext cx="45720" cy="64008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51560" y="3593592"/>
            <a:ext cx="502920" cy="502920"/>
          </a:xfrm>
          <a:prstGeom prst="ellipse">
            <a:avLst/>
          </a:prstGeom>
          <a:solidFill>
            <a:srgbClr val="3FB950">
              <a:alpha val="20000"/>
            </a:srgbClr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51560" y="3593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828800" y="35204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 + Firewall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29200" y="3502152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Isolated container. AWF proxy enforces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 allowlist. Non-allowed = dropped.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58952" y="4425696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31520" y="4389120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31520" y="4480560"/>
            <a:ext cx="45720" cy="640080"/>
          </a:xfrm>
          <a:prstGeom prst="rect">
            <a:avLst/>
          </a:prstGeom>
          <a:solidFill>
            <a:srgbClr val="A37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51560" y="4553712"/>
            <a:ext cx="502920" cy="502920"/>
          </a:xfrm>
          <a:prstGeom prst="ellipse">
            <a:avLst/>
          </a:prstGeom>
          <a:solidFill>
            <a:srgbClr val="A371F7">
              <a:alpha val="20000"/>
            </a:srgbClr>
          </a:solidFill>
          <a:ln w="19050">
            <a:solidFill>
              <a:srgbClr val="A371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51560" y="4553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828800" y="44805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Outputs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029200" y="4462272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produces structured artifact.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Gated write job applies only permitted ops.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58952" y="5385816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31520" y="5349240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31520" y="5440680"/>
            <a:ext cx="45720" cy="640080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051560" y="5513832"/>
            <a:ext cx="502920" cy="502920"/>
          </a:xfrm>
          <a:prstGeom prst="ellipse">
            <a:avLst/>
          </a:prstGeom>
          <a:solidFill>
            <a:srgbClr val="F85149">
              <a:alpha val="20000"/>
            </a:srgbClr>
          </a:solidFill>
          <a:ln w="1905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51560" y="5513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828800" y="5440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Detection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029200" y="5422392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scan: prompt injection,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leaked creds, malicious code. Fail = halt.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731520" y="626364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14400" y="629107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38636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Event → Agent (read-only) → Artifact → Threat Scan → Write Job (scoped) → GitHub API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CBRE Innovate 2026  ·  ADO/GitHub with Microsoft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Demo: Big-O Auditor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agent that reviews PRs for algorithmic complexity — written in natural language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93192" y="1591056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1828800" cy="36576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43000" y="1783080"/>
            <a:ext cx="548640" cy="548640"/>
          </a:xfrm>
          <a:prstGeom prst="ellipse">
            <a:avLst/>
          </a:prstGeom>
          <a:solidFill>
            <a:srgbClr val="1F6FEB">
              <a:alpha val="25000"/>
            </a:srgbClr>
          </a:solidFill>
          <a:ln w="1905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</a:t>
            </a:r>
            <a:endParaRPr lang="en-US" sz="1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agent.md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34290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YAML header: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permissions, triggers,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provider (Copilot)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77440" y="2926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38636"/>
                </a:solidFill>
              </a:rPr>
              <a:t>›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2770632" y="1591056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0" y="1554480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880360" y="1554480"/>
            <a:ext cx="1828800" cy="36576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520440" y="1783080"/>
            <a:ext cx="548640" cy="548640"/>
          </a:xfrm>
          <a:prstGeom prst="ellipse">
            <a:avLst/>
          </a:prstGeom>
          <a:solidFill>
            <a:srgbClr val="58A6FF">
              <a:alpha val="25000"/>
            </a:srgbClr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2044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880360" y="24688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</a:t>
            </a:r>
            <a:endParaRPr lang="en-US" sz="1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880360" y="34290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"Analyze code for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Big-O complexity.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Suggest optimization."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2926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38636"/>
                </a:solidFill>
              </a:rPr>
              <a:t>›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5148072" y="1591056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120640" y="1554480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257800" y="1554480"/>
            <a:ext cx="1828800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897880" y="1783080"/>
            <a:ext cx="548640" cy="548640"/>
          </a:xfrm>
          <a:prstGeom prst="ellipse">
            <a:avLst/>
          </a:prstGeom>
          <a:solidFill>
            <a:srgbClr val="238636">
              <a:alpha val="25000"/>
            </a:srgbClr>
          </a:solidFill>
          <a:ln w="1905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9788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257800" y="24688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 aw</a:t>
            </a:r>
            <a:endParaRPr lang="en-US" sz="1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57800" y="34290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Generates hardened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.lock.yml workflow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automatically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32320" y="2926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38636"/>
                </a:solidFill>
              </a:rPr>
              <a:t>›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7525512" y="1591056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498080" y="1554480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635240" y="1554480"/>
            <a:ext cx="1828800" cy="36576"/>
          </a:xfrm>
          <a:prstGeom prst="rect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275320" y="1783080"/>
            <a:ext cx="548640" cy="548640"/>
          </a:xfrm>
          <a:prstGeom prst="ellipse">
            <a:avLst/>
          </a:prstGeom>
          <a:solidFill>
            <a:srgbClr val="D29922">
              <a:alpha val="25000"/>
            </a:srgbClr>
          </a:solidFill>
          <a:ln w="19050">
            <a:solidFill>
              <a:srgbClr val="D29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7532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299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635240" y="24688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</a:t>
            </a:r>
            <a:endParaRPr lang="en-US" sz="1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 Request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635240" y="34290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O(n²) code.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activates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PR trigger.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509760" y="2926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38636"/>
                </a:solidFill>
              </a:rPr>
              <a:t>›</a:t>
            </a:r>
            <a:endParaRPr lang="en-US" sz="2800" dirty="0"/>
          </a:p>
        </p:txBody>
      </p:sp>
      <p:sp>
        <p:nvSpPr>
          <p:cNvPr id="39" name="Shape 37"/>
          <p:cNvSpPr/>
          <p:nvPr/>
        </p:nvSpPr>
        <p:spPr>
          <a:xfrm>
            <a:off x="9902952" y="1591056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875520" y="1554480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012680" y="1554480"/>
            <a:ext cx="1828800" cy="36576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0652760" y="1783080"/>
            <a:ext cx="548640" cy="548640"/>
          </a:xfrm>
          <a:prstGeom prst="ellipse">
            <a:avLst/>
          </a:prstGeom>
          <a:solidFill>
            <a:srgbClr val="3FB950">
              <a:alpha val="25000"/>
            </a:srgbClr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65276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10012680" y="24688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</a:t>
            </a:r>
            <a:endParaRPr lang="en-US" sz="1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Reviews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0012680" y="34290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Finds inefficiency.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Suggests O(n) fix.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perf impact.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31520" y="5897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 minutes to execute · Results posted as PR comment with formatted table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CBRE Innovate 2026  ·  ADO/GitHub with Microsoft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Can Your Teams Build?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design patterns · Ready-made examples at github.com/githubnext/agentics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58952" y="1591056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1554480"/>
            <a:ext cx="3154680" cy="36576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508760" y="1737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 &amp; PR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6060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Auto-triage, labeling,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coordination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07992" y="1591056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80560" y="155448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17720" y="1554480"/>
            <a:ext cx="3154680" cy="36576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257800" y="1737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63440" y="26060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 docs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code changes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57032" y="1591056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0" y="155448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366760" y="1554480"/>
            <a:ext cx="3154680" cy="36576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41248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006840" y="1737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Quality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Testing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412480" y="26060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 failure diagnosis,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improvements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58952" y="4105656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1520" y="406908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68680" y="4069080"/>
            <a:ext cx="3154680" cy="36576"/>
          </a:xfrm>
          <a:prstGeom prst="rect">
            <a:avLst/>
          </a:prstGeom>
          <a:solidFill>
            <a:srgbClr val="A37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40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508760" y="4251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Metrics &amp;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14400" y="51206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reports, trend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analysis, health monitoring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507992" y="4105656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480560" y="406908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17720" y="4069080"/>
            <a:ext cx="3154680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6344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5257800" y="4251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Improvement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663440" y="51206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code simplification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refactoring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257032" y="4105656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229600" y="406908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366760" y="4069080"/>
            <a:ext cx="3154680" cy="36576"/>
          </a:xfrm>
          <a:prstGeom prst="rect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41248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9006840" y="4251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Multi-Repo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412480" y="51206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sync across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repositories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CBRE Innovate 2026  ·  ADO/GitHub with Microsoft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Innovate × Agentic Workflows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gh-aw maps to your hackathon themes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301752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386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Innovate Theme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386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Ideas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386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gh-aw Fit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386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Example Workflow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Agentic AI &amp; Multi-Agent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113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FB95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Direct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 per repo task, orchestrated via dispatch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DevOps / SDLC Automation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FB95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Direct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 review, test gen, pipeline quality gates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 Intelligence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89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299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⚡ Partial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Auto-generate docs from code changes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RAG &amp; Knowledge Retrieval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59+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299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⚡ Partial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Knowledge-grounded PR review via MCP Gateway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IaC &amp; Cloud Automation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FB95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Direct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Terraform linting, infra validation on push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5"/>
          <p:cNvSpPr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gh-aw directly addresses 178+ of CBRE's 500+ innovation ideas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856232" y="5614416"/>
            <a:ext cx="8503920" cy="685800"/>
          </a:xfrm>
          <a:prstGeom prst="roundRect">
            <a:avLst>
              <a:gd name="adj" fmla="val 16000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828800" y="5577840"/>
            <a:ext cx="8503920" cy="685800"/>
          </a:xfrm>
          <a:prstGeom prst="roundRect">
            <a:avLst>
              <a:gd name="adj" fmla="val 16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011680" y="562356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 Teams can fork examples from github.com/githubnext/agentics and start building today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7532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7824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28116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78408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8700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78992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29284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7532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77824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28116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78408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28700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78992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29284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7532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77824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28116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78408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28700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78992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129284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77240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27532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77824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28116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78408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28700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78992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129284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77240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27532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77824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28116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78408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28700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78992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129284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77240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27532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77824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28116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78408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028700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078992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129284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31520" y="9144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Started</a:t>
            </a:r>
            <a:endParaRPr lang="en-US" sz="5400" dirty="0"/>
          </a:p>
        </p:txBody>
      </p:sp>
      <p:sp>
        <p:nvSpPr>
          <p:cNvPr id="52" name="Shape 50"/>
          <p:cNvSpPr/>
          <p:nvPr/>
        </p:nvSpPr>
        <p:spPr>
          <a:xfrm>
            <a:off x="731520" y="1965960"/>
            <a:ext cx="2743200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31520" y="2377440"/>
            <a:ext cx="6858000" cy="54864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31520" y="2450592"/>
            <a:ext cx="45720" cy="402336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51560" y="2377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2926080" y="2377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github.github.com/gh-aw/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731520" y="3063240"/>
            <a:ext cx="6858000" cy="54864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31520" y="3136392"/>
            <a:ext cx="45720" cy="40233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051560" y="3063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Start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2926080" y="3063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github.github.com/gh-aw/setup/quick-start/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31520" y="3749040"/>
            <a:ext cx="6858000" cy="54864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731520" y="3822192"/>
            <a:ext cx="45720" cy="402336"/>
          </a:xfrm>
          <a:prstGeom prst="rect">
            <a:avLst/>
          </a:prstGeom>
          <a:solidFill>
            <a:srgbClr val="A37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051560" y="3749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2926080" y="3749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github.com/githubnext/agentics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731520" y="4434840"/>
            <a:ext cx="6858000" cy="54864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731520" y="4507992"/>
            <a:ext cx="45720" cy="402336"/>
          </a:xfrm>
          <a:prstGeom prst="rect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051560" y="4434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299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Blog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2926080" y="44348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github.blog/ai-and-ml/automate-repository-tasks-with-github-agentic-workflows/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731520" y="5303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discuss follow-up sessions for your other Innovate themes</a:t>
            </a:r>
            <a:endParaRPr lang="en-US" sz="2000" dirty="0"/>
          </a:p>
        </p:txBody>
      </p:sp>
      <p:sp>
        <p:nvSpPr>
          <p:cNvPr id="70" name="Text 68"/>
          <p:cNvSpPr/>
          <p:nvPr/>
        </p:nvSpPr>
        <p:spPr>
          <a:xfrm>
            <a:off x="731520" y="5715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(113 ideas)</a:t>
            </a:r>
            <a:r>
              <a:rPr lang="en-US" sz="16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600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AI (22 ideas)</a:t>
            </a:r>
            <a:r>
              <a:rPr lang="en-US" sz="16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6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Intelligence (89 ideas)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731520" y="6309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768</Words>
  <Application>Microsoft Office PowerPoint</Application>
  <PresentationFormat>Widescreen</PresentationFormat>
  <Paragraphs>189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Cascadia Code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Agentic Workflows — CBRE Innovate 2026</dc:title>
  <dc:subject>PptxGenJS Presentation</dc:subject>
  <dc:creator>Len Volk — Microsoft</dc:creator>
  <cp:lastModifiedBy>Len Volk</cp:lastModifiedBy>
  <cp:revision>2</cp:revision>
  <dcterms:created xsi:type="dcterms:W3CDTF">2026-04-17T16:32:54Z</dcterms:created>
  <dcterms:modified xsi:type="dcterms:W3CDTF">2026-04-18T00:46:25Z</dcterms:modified>
</cp:coreProperties>
</file>